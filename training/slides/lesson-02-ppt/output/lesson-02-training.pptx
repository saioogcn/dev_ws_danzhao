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8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955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4BF064-0AA7-7A2E-A799-D91A3C47D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F488DB-B744-45D8-5CCB-B8D92BC00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D51A49-1B16-65B4-395E-9E6A3CC097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4A935-68AF-3714-99AF-3C6E7D002B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F8E2FE-AE0B-F041-51E3-351EA763D2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7DF5A-C84B-A36F-93FB-34B49DDE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EDA1D1-5D70-6ACB-AD4D-4D3B5B9C9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AE8C40-CE37-B7F3-0032-30E56C175D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FA5E88-998C-59C0-C2DD-B38B4C6F71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230369-266A-1A7D-B2BA-13628FE01F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BE160-BE29-81B6-893C-3A82F061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6D9EE4-77EC-9ABA-DCC0-CCE7D4B82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517B9-AA02-E1E1-A515-88AD864371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C9A58-B33B-1A92-EB61-7C39EE08DA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8FA8ED-40E2-A541-0659-58CCFA2A5D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86DAB-2FD9-5EE1-92F7-B6A0624D9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67D6B-674D-FB84-AD2F-7483B188E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14CC4E-04AA-D637-556F-68F8F6C50B7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B5F5A0-46EF-0216-393E-4426CB039B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8E8B13-EAEA-14E4-4635-59BAFDC3CB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B00A40-894C-21AA-6CCC-0BE792CD9C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66D4C-E74E-90B0-7E4D-942A268A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18ABDB-BB9C-4EA3-1F8D-C2AF080BC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A38D8F-1E3D-B4C4-6A63-E939C748974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9251D0-4C7A-8BC7-DA87-A0A5B091008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542FF7-0F9B-6D27-BC14-F253966A2A8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F819A6-57D8-D2F9-7DF1-19CCA1081A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0FD71F-5BEF-6903-D442-AEA574D8A7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8167C3-6736-0428-46CF-929B689FD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A5C11-D636-164F-285E-E68B610A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AE85BD-D660-67C1-0FCD-E033C40F6A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28A43D-CBDA-C65A-CD19-420A1B7AEA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77E46F-B3A2-1398-C7AD-FCE3EA7AFC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30C7D0-040C-947A-607D-47426DB7F9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B1EDC0-B420-BFE0-BD44-76D83E21D4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0900A-CC0D-CF69-B0FD-5CFD9601E4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183B7-5944-4792-3A18-ED1D02AA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AA0553-585C-4D88-F77C-1D1895993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A8A016-B129-47B6-8504-222C0FBC61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24BB1F-7244-C329-98CF-751396C818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641745-04B8-7C38-1B17-1591556C5C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07D371-ADB8-A8B7-CB37-93B3766DA1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CFD4D8-E9CF-E512-FC2D-DC8C7EF5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1F21A8-03B5-4FEA-2FE5-0C58FCCDC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FE3217-695A-37E8-6D26-18BB9AC6790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1C9617-63AC-E215-F8F9-5186AEDAFE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4C345D-F9D1-C0B8-68BF-48D042F41B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980E24-0735-9506-9BA5-711402F3E2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EB66A-25A2-3E82-31A7-D5A3742A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52DF1E-DD34-8BE7-9A61-068C401BF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39079-C7D1-5B99-356C-5BA99CEBF4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2AD0DB-9567-C7E7-A2A0-B0D7D6DDBB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5CD4FA-E17F-596A-EBDD-3FD36E5B52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400E7A-17DE-B1A9-4CF2-3E4A5570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291685-CAC1-FC81-F323-7F6C2B81F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F68783-4283-B371-BCCF-6B618679D3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EC416-8CF5-8D35-0102-6791B442D6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CFF318-9356-2A63-459A-1FA2F20CB7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447392-3871-4601-9317-6852B97987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1C03C2-FA86-A6B7-BD87-AC1A9B5E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FAAA32-5C56-2D7F-DC53-BB5BE6FE8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1221D0-3130-6244-FFDD-90F5ACFD78C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27E8F-BB8E-6A83-7FBC-A4FDD1B3AD7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5FAB01-E089-D6F2-4F24-0F05ACA5FCD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47392-3871-4601-9317-6852B979877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91343" y="411787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1028" name="文本框 1027">
            <a:extLst>
              <a:ext uri="{FF2B5EF4-FFF2-40B4-BE49-F238E27FC236}">
                <a16:creationId xmlns:a16="http://schemas.microsoft.com/office/drawing/2014/main" id="{D58525B2-432F-BEC0-BBF3-BC076E278976}"/>
              </a:ext>
            </a:extLst>
          </p:cNvPr>
          <p:cNvSpPr>
            <a:spLocks noGrp="1"/>
          </p:cNvSpPr>
          <p:nvPr/>
        </p:nvSpPr>
        <p:spPr>
          <a:xfrm>
            <a:off x="9503231" y="5571625"/>
            <a:ext cx="2164080" cy="603504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>
            <a:defPPr algn="r"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lang="zh-CN" altLang="en-US" sz="2000" dirty="0">
                <a:solidFill>
                  <a:srgbClr val="D9D9D9"/>
                </a:solidFill>
                <a:latin typeface="等线"/>
                <a:ea typeface="等线"/>
                <a:cs typeface="等线"/>
              </a:rPr>
              <a:t>孙智诚</a:t>
            </a:r>
            <a:endParaRPr lang="en-US" altLang="zh-CN" sz="2000" dirty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lang="en-US" sz="2000" dirty="0">
                <a:solidFill>
                  <a:srgbClr val="D9D9D9"/>
                </a:solidFill>
                <a:latin typeface="等线"/>
                <a:ea typeface="等线"/>
              </a:rPr>
              <a:t>2451503</a:t>
            </a:r>
          </a:p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lang="en-US" altLang="zh-CN" sz="2000" dirty="0" err="1">
                <a:solidFill>
                  <a:srgbClr val="D9D9D9"/>
                </a:solidFill>
                <a:latin typeface="等线"/>
                <a:ea typeface="等线"/>
              </a:rPr>
              <a:t>saioog@tongji</a:t>
            </a:r>
            <a:endParaRPr sz="2000" dirty="0">
              <a:solidFill>
                <a:schemeClr val="bg1">
                  <a:lumMod val="85000"/>
                </a:schemeClr>
              </a:solidFill>
            </a:endParaRPr>
          </a:p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 dirty="0">
                <a:solidFill>
                  <a:srgbClr val="D9D9D9"/>
                </a:solidFill>
                <a:latin typeface="等线"/>
                <a:ea typeface="等线"/>
                <a:cs typeface="等线"/>
              </a:rPr>
              <a:t>2026 年 10 月 13 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014791" y="2667000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 dirty="0" err="1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4E35A46C-CDE6-42C1-AEA8-08F88498871C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6858000" cy="3105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30000"/>
              </a:lnSpc>
              <a:buNone/>
              <a:defRPr sz="165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endParaRPr sz="1650" b="0" dirty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030" name="矩形 1029">
            <a:extLst>
              <a:ext uri="{FF2B5EF4-FFF2-40B4-BE49-F238E27FC236}">
                <a16:creationId xmlns:a16="http://schemas.microsoft.com/office/drawing/2014/main" id="{2665A707-005B-4D9D-8299-E8D00B3185FB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685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25000"/>
              </a:lnSpc>
              <a:buNone/>
              <a:defRPr sz="3300" b="0"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pPr>
            <a:r>
              <a:rPr sz="5400" b="0" dirty="0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ROS 2 </a:t>
            </a:r>
            <a:r>
              <a:rPr sz="5400" b="0" dirty="0" err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  <a:endParaRPr sz="5400" b="0" dirty="0">
              <a:solidFill>
                <a:srgbClr val="FBE3D6"/>
              </a:solidFill>
              <a:latin typeface="PMingLiU-ExtB"/>
              <a:ea typeface="PMingLiU-ExtB"/>
              <a:cs typeface="PMingLiU-ExtB"/>
            </a:endParaRPr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D9B891F0-0352-4F74-AD23-3090DFCC2EA5}"/>
              </a:ext>
            </a:extLst>
          </p:cNvPr>
          <p:cNvSpPr>
            <a:spLocks noGrp="1"/>
          </p:cNvSpPr>
          <p:nvPr/>
        </p:nvSpPr>
        <p:spPr>
          <a:xfrm>
            <a:off x="609600" y="3433425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70000"/>
              </a:lnSpc>
              <a:buNone/>
              <a:defRPr sz="150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400" b="0" dirty="0" err="1">
                <a:solidFill>
                  <a:srgbClr val="D9D9D9"/>
                </a:solidFill>
                <a:latin typeface="等线"/>
                <a:ea typeface="等线"/>
                <a:cs typeface="等线"/>
              </a:rPr>
              <a:t>包的创建、编译与三类典型报错</a:t>
            </a:r>
            <a:endParaRPr sz="2400" b="0" dirty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  <a:p>
            <a:pPr algn="l">
              <a:lnSpc>
                <a:spcPct val="170000"/>
              </a:lnSpc>
              <a:buNone/>
              <a:defRPr sz="150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400" b="0" dirty="0" err="1">
                <a:solidFill>
                  <a:srgbClr val="D9D9D9"/>
                </a:solidFill>
                <a:latin typeface="等线"/>
                <a:ea typeface="等线"/>
                <a:cs typeface="等线"/>
              </a:rPr>
              <a:t>三条技术路线概览与技术栈评估</a:t>
            </a:r>
            <a:endParaRPr sz="2400" b="0" dirty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89321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91343" y="411787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1028" name="文本框 1027">
            <a:extLst>
              <a:ext uri="{FF2B5EF4-FFF2-40B4-BE49-F238E27FC236}">
                <a16:creationId xmlns:a16="http://schemas.microsoft.com/office/drawing/2014/main" id="{D58525B2-432F-BEC0-BBF3-BC076E278976}"/>
              </a:ext>
            </a:extLst>
          </p:cNvPr>
          <p:cNvSpPr>
            <a:spLocks noGrp="1"/>
          </p:cNvSpPr>
          <p:nvPr/>
        </p:nvSpPr>
        <p:spPr>
          <a:xfrm>
            <a:off x="9503231" y="5571625"/>
            <a:ext cx="2164080" cy="603504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>
            <a:defPPr algn="r"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lang="zh-CN" altLang="en-US" sz="2000" dirty="0">
                <a:solidFill>
                  <a:srgbClr val="D9D9D9"/>
                </a:solidFill>
                <a:latin typeface="等线"/>
                <a:ea typeface="等线"/>
                <a:cs typeface="等线"/>
              </a:rPr>
              <a:t>孙智诚</a:t>
            </a:r>
            <a:endParaRPr lang="en-US" altLang="zh-CN" sz="2000" dirty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lang="en-US" sz="2000" dirty="0">
                <a:solidFill>
                  <a:srgbClr val="D9D9D9"/>
                </a:solidFill>
                <a:latin typeface="等线"/>
                <a:ea typeface="等线"/>
              </a:rPr>
              <a:t>2451503</a:t>
            </a:r>
          </a:p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lang="en-US" altLang="zh-CN" sz="2000" dirty="0" err="1">
                <a:solidFill>
                  <a:srgbClr val="D9D9D9"/>
                </a:solidFill>
                <a:latin typeface="等线"/>
                <a:ea typeface="等线"/>
              </a:rPr>
              <a:t>saioog@tongji</a:t>
            </a:r>
            <a:endParaRPr sz="2000" dirty="0">
              <a:solidFill>
                <a:schemeClr val="bg1">
                  <a:lumMod val="85000"/>
                </a:schemeClr>
              </a:solidFill>
            </a:endParaRPr>
          </a:p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 dirty="0">
                <a:solidFill>
                  <a:srgbClr val="D9D9D9"/>
                </a:solidFill>
                <a:latin typeface="等线"/>
                <a:ea typeface="等线"/>
                <a:cs typeface="等线"/>
              </a:rPr>
              <a:t>2026 年 10 月 13 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014791" y="2667000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 dirty="0" err="1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4E35A46C-CDE6-42C1-AEA8-08F88498871C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6858000" cy="3105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30000"/>
              </a:lnSpc>
              <a:buNone/>
              <a:defRPr sz="165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endParaRPr sz="1650" b="0" dirty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F61901-9AB6-10EF-231D-AF0E390865CE}"/>
              </a:ext>
            </a:extLst>
          </p:cNvPr>
          <p:cNvSpPr txBox="1"/>
          <p:nvPr/>
        </p:nvSpPr>
        <p:spPr>
          <a:xfrm>
            <a:off x="870155" y="925798"/>
            <a:ext cx="6184490" cy="415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0" dirty="0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目录</a:t>
            </a:r>
            <a:endParaRPr lang="en-US" altLang="zh-CN" sz="4800" b="0" dirty="0">
              <a:solidFill>
                <a:srgbClr val="FBE3D6"/>
              </a:solidFill>
              <a:latin typeface="等线"/>
              <a:ea typeface="等线"/>
              <a:cs typeface="等线"/>
            </a:endParaRPr>
          </a:p>
          <a:p>
            <a:pPr algn="l">
              <a:lnSpc>
                <a:spcPct val="200000"/>
              </a:lnSpc>
              <a:buNone/>
              <a:defRPr sz="1800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lang="zh-CN" altLang="en-US" sz="2800" b="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等线"/>
              </a:rPr>
              <a:t>一、工作空间与包的创建</a:t>
            </a:r>
          </a:p>
          <a:p>
            <a:pPr algn="l">
              <a:lnSpc>
                <a:spcPct val="200000"/>
              </a:lnSpc>
              <a:buNone/>
              <a:defRPr sz="1800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lang="zh-CN" altLang="en-US" sz="2800" b="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等线"/>
              </a:rPr>
              <a:t>二、编译与三类典型报错</a:t>
            </a:r>
          </a:p>
          <a:p>
            <a:pPr algn="l">
              <a:lnSpc>
                <a:spcPct val="200000"/>
              </a:lnSpc>
              <a:buNone/>
              <a:defRPr sz="1800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lang="zh-CN" altLang="en-US" sz="2800" b="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等线"/>
              </a:rPr>
              <a:t>三、技术路线概览</a:t>
            </a:r>
          </a:p>
          <a:p>
            <a:pPr algn="l">
              <a:lnSpc>
                <a:spcPct val="200000"/>
              </a:lnSpc>
              <a:buNone/>
              <a:defRPr sz="1800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lang="zh-CN" altLang="en-US" sz="2800" b="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等线"/>
              </a:rPr>
              <a:t>四、技术栈与难度评估</a:t>
            </a:r>
          </a:p>
        </p:txBody>
      </p:sp>
    </p:spTree>
    <p:extLst>
      <p:ext uri="{BB962C8B-B14F-4D97-AF65-F5344CB8AC3E}">
        <p14:creationId xmlns:p14="http://schemas.microsoft.com/office/powerpoint/2010/main" val="368008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37AC70-C5F2-4021-820C-DAC11930438C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工作空间的四个目录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7834FD6-320B-4C0C-B07F-988F7E18F78B}"/>
              </a:ext>
            </a:extLst>
          </p:cNvPr>
          <p:cNvGraphicFramePr/>
          <p:nvPr/>
        </p:nvGraphicFramePr>
        <p:xfrm>
          <a:off x="457200" y="1371600"/>
          <a:ext cx="7467600" cy="1619250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目录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装什么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能不能删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src/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包的源代码，唯一需要手工编辑的地方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不能，删了就没了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build/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编译中间产物，CMake 缓存和目标文件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能，会自动重建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install/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可执行文件、launch、config，以及每个包的 package.xml 副本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能，会自动重建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log/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每次编译的日志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能，建议按需清理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4E87F9D-F237-4DA6-B525-CB79373DAE6F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编译产物的价值只有一个，就是能被重新生成。遇到说不清的问题，删掉重编通常比逐个排查更快。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4C6B0D-6C37-4FA5-89FA-FB90DE380B24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366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包与 package.xml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78564B-4CE6-40ED-B415-75184A9B0559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package.xml 是包的身份证。colcon 从当前目录往下递归查找 package.xml，找到哪个目录，哪个目录就是一个包。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7A9E99-A09E-4280-A7FE-0D58D26FAA6C}"/>
              </a:ext>
            </a:extLst>
          </p:cNvPr>
          <p:cNvSpPr>
            <a:spLocks noGrp="1"/>
          </p:cNvSpPr>
          <p:nvPr/>
        </p:nvSpPr>
        <p:spPr>
          <a:xfrm>
            <a:off x="457200" y="2031683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由此得出一条硬规则：包必须放在 src/ 下面。colcon 从工作空间根开始扫描，src/ 之外的内容不会被发现。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915B44-75FA-4750-AA55-57B39608A16F}"/>
              </a:ext>
            </a:extLst>
          </p:cNvPr>
          <p:cNvSpPr>
            <a:spLocks noGrp="1"/>
          </p:cNvSpPr>
          <p:nvPr/>
        </p:nvSpPr>
        <p:spPr>
          <a:xfrm>
            <a:off x="457200" y="2691765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目录深度不影响能否被找到。惯例是 src/&lt;包名&gt;/，多一层嵌套也能被找到。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A44814-57F3-4761-8EEC-54BA0DCD6A89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创建包的两种类型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07DF42-E7A8-4C31-9566-82D25A2EA7C6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1760220"/>
          </a:xfrm>
          <a:prstGeom prst="roundRect">
            <a:avLst>
              <a:gd name="adj" fmla="val 1623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cd /userdata/dev_ws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source /opt/tros/humble/setup.bash</a:t>
            </a:r>
          </a:p>
          <a:p>
            <a:endParaRPr sz="1050">
              <a:solidFill>
                <a:srgbClr val="0E2841"/>
              </a:solidFill>
              <a:latin typeface="等线"/>
              <a:ea typeface="等线"/>
              <a:cs typeface="等线"/>
            </a:endParaRP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ros2 pkg create --build-type ament_cmake my_cpp_pkg \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  --dependencies rclcpp geometry_msgs</a:t>
            </a:r>
          </a:p>
          <a:p>
            <a:endParaRPr sz="1050">
              <a:solidFill>
                <a:srgbClr val="0E2841"/>
              </a:solidFill>
              <a:latin typeface="等线"/>
              <a:ea typeface="等线"/>
              <a:cs typeface="等线"/>
            </a:endParaRP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ros2 pkg create --build-type ament_python my_py_pkg \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  --dependencies rclpy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A1D98C-2C7F-4B9B-857D-C0D15CC40CEF}"/>
              </a:ext>
            </a:extLst>
          </p:cNvPr>
          <p:cNvSpPr>
            <a:spLocks noGrp="1"/>
          </p:cNvSpPr>
          <p:nvPr/>
        </p:nvSpPr>
        <p:spPr>
          <a:xfrm>
            <a:off x="457200" y="328422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命名规则：全小写，单词之间用下划线。demo1_visual_control 合规，Demo1-VisualControl 不合规。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0438EA-2555-4BE2-B07E-693B6CD94E2F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两种包的最小结构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311D4D-2475-4A62-A374-0D15E0CB6DFE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3629025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30000"/>
              </a:lnSpc>
              <a:buNone/>
              <a:defRPr sz="1200" b="1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200" b="1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C++ 包，ament_cmake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10CF70-4A95-4BEA-A490-D4FB1A95239D}"/>
              </a:ext>
            </a:extLst>
          </p:cNvPr>
          <p:cNvSpPr>
            <a:spLocks noGrp="1"/>
          </p:cNvSpPr>
          <p:nvPr/>
        </p:nvSpPr>
        <p:spPr>
          <a:xfrm>
            <a:off x="457200" y="1703070"/>
            <a:ext cx="3629025" cy="1343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my_cpp_pkg/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package.xml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CMakeLists.txt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src/xxx.cpp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include/my_cpp_pkg/xxx.hpp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launch/xxx.launch.py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config/xxx.yaml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EE590E-0D9F-48A0-BAAF-60ACA93B2684}"/>
              </a:ext>
            </a:extLst>
          </p:cNvPr>
          <p:cNvSpPr>
            <a:spLocks noGrp="1"/>
          </p:cNvSpPr>
          <p:nvPr/>
        </p:nvSpPr>
        <p:spPr>
          <a:xfrm>
            <a:off x="4295775" y="1371600"/>
            <a:ext cx="3629025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30000"/>
              </a:lnSpc>
              <a:buNone/>
              <a:defRPr sz="1200" b="1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200" b="1">
                <a:solidFill>
                  <a:srgbClr val="0E2841"/>
                </a:solidFill>
                <a:latin typeface="等线"/>
                <a:ea typeface="等线"/>
                <a:cs typeface="等线"/>
              </a:rPr>
              <a:t>Python 包，ament_python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E4F58D-6ABB-41AC-9CFB-E86D0620F242}"/>
              </a:ext>
            </a:extLst>
          </p:cNvPr>
          <p:cNvSpPr>
            <a:spLocks noGrp="1"/>
          </p:cNvSpPr>
          <p:nvPr/>
        </p:nvSpPr>
        <p:spPr>
          <a:xfrm>
            <a:off x="4295775" y="1703070"/>
            <a:ext cx="3629025" cy="1343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my_py_pkg/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package.xml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setup.py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setup.cfg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resource/my_py_pkg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my_py_pkg/xxx.py</a:t>
            </a:r>
          </a:p>
          <a:p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  launch/xxx.launch.py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6C8FA2-6E63-45E3-8DC9-32897CD3CD74}"/>
              </a:ext>
            </a:extLst>
          </p:cNvPr>
          <p:cNvSpPr>
            <a:spLocks noGrp="1"/>
          </p:cNvSpPr>
          <p:nvPr/>
        </p:nvSpPr>
        <p:spPr>
          <a:xfrm>
            <a:off x="457200" y="3198733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C++ 包的 CMakeLists.txt 要写清三件事：find_package、add_executable、install。Python 包的 setup.py 里，entry_points 决定可执行名字，data_files 决定 launch 和 config 装到哪。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F77373-8065-4D1E-99C6-94BA66A6F3A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依赖声明与三类报错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E26CAB-6E2D-488C-9479-C2E2E6DF43C9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用到别人的消息或库，就要在 package.xml 里声明。漏了会在三个不同阶段报错。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64E984C-FC36-49D3-8852-0AA1CD118EC7}"/>
              </a:ext>
            </a:extLst>
          </p:cNvPr>
          <p:cNvGraphicFramePr/>
          <p:nvPr/>
        </p:nvGraphicFramePr>
        <p:xfrm>
          <a:off x="457200" y="1796891"/>
          <a:ext cx="7467600" cy="1470660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阶段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典型报错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缺的是什么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编译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fatal error: geometry_msgs/msg/twist.hpp: No such file or directory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&lt;depend&gt; 没写，或 CMake 里没 find_package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链接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undefined reference to ...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库找到了但没链接，检查 ament_target_dependencies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运行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Package 'x' not found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&lt;exec_depend&gt; 没写，或忘了 source install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DC79E7-CF40-4E72-8EA7-F48C2B29A44A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366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三个 demo 包的放置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0DC4E7A-14C5-4AA0-9DEE-DEB0AE9FA981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1013460"/>
          </a:xfrm>
          <a:prstGeom prst="roundRect">
            <a:avLst>
              <a:gd name="adj" fmla="val 2820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cd /userdata/dev_ws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cp -a &lt;training&gt;/demos/demo1_visual_ws/src/demo1_visual_control src/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cp -a &lt;training&gt;/demos/demo2_nav2_teb_ws/src/demo2_nav2_teb src/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cp -a &lt;training&gt;/demos/demo3_lio_ws/src/demo3_lio src/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891616-5524-4A3B-B6BB-B07CC80D9E68}"/>
              </a:ext>
            </a:extLst>
          </p:cNvPr>
          <p:cNvSpPr>
            <a:spLocks noGrp="1"/>
          </p:cNvSpPr>
          <p:nvPr/>
        </p:nvSpPr>
        <p:spPr>
          <a:xfrm>
            <a:off x="457200" y="253746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只复制包目录。外层 *_ws、build/、install/、log/ 都不要复制，复制进去就会带来别人机器上的编译产物。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DC7E1C-F8B0-4E88-9791-682D15BA80C7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编译的唯一正确位置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3740E5-7A2B-4045-8665-C16FC81C32FD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编译地点是包含 src/ 的那一层，也就是工作空间根。不是 src/ 里面，也不是某个包目录里面。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848FEA5-8671-4A9C-A7E5-F8C428BA89B9}"/>
              </a:ext>
            </a:extLst>
          </p:cNvPr>
          <p:cNvSpPr>
            <a:spLocks noGrp="1"/>
          </p:cNvSpPr>
          <p:nvPr/>
        </p:nvSpPr>
        <p:spPr>
          <a:xfrm>
            <a:off x="457200" y="1796891"/>
            <a:ext cx="7467600" cy="640080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pwd        # 期望输出 /userdata/dev_ws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ls src     # 期望看到 demo1_visual_control 等包名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45E325-792B-4E6F-A3B1-4C3BEB487A4E}"/>
              </a:ext>
            </a:extLst>
          </p:cNvPr>
          <p:cNvSpPr>
            <a:spLocks noGrp="1"/>
          </p:cNvSpPr>
          <p:nvPr/>
        </p:nvSpPr>
        <p:spPr>
          <a:xfrm>
            <a:off x="457200" y="2589371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判断依据只有一个：colcon 在哪个目录被调用，build/、install/、log/ 就生成在哪个目录。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C5CDB7-CB01-4629-8CBE-5ED17204D872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编译的四条命令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1760DC3-FE1D-41EF-BDA0-4B1FC0AC92B9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1200150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cd /userdata/dev_ws                         # 1 进工作空间根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source /opt/tros/humble/setup.bash          # 2 系统环境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colcon build --symlink-install \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  --packages-select demo1_visual_control    # 3 编译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source install/setup.bash                   # 4 认识新编译的包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AFB54D-8E10-418B-B20C-34460122E4BA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第 2 步和第 4 步是两件事。前者是系统和厂商包，后者是你刚编译出来的包。ROS 2 通过环境变量 AMENT_PREFIX_PATH 找包，不做第 4 步，ros2 pkg list 里就没有你的包。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46AADA-9E05-4D63-BAFC-15F2A084F4EF}"/>
              </a:ext>
            </a:extLst>
          </p:cNvPr>
          <p:cNvSpPr>
            <a:spLocks noGrp="1"/>
          </p:cNvSpPr>
          <p:nvPr/>
        </p:nvSpPr>
        <p:spPr>
          <a:xfrm>
            <a:off x="457200" y="3384233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每开一个新终端，第 2 步和第 4 步都要重做一遍。bashrc 里已经有的只是第 2 步。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E17E99-C9A1-4C01-BDCF-3BA9A7652B7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两个常用参数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BF97498-A502-4CB8-B9FC-0727F4BEF26F}"/>
              </a:ext>
            </a:extLst>
          </p:cNvPr>
          <p:cNvGraphicFramePr/>
          <p:nvPr/>
        </p:nvGraphicFramePr>
        <p:xfrm>
          <a:off x="457200" y="1371600"/>
          <a:ext cx="7467600" cy="1257300"/>
        </p:xfrm>
        <a:graphic>
          <a:graphicData uri="http://schemas.openxmlformats.org/drawingml/2006/table">
            <a:tbl>
              <a:tblPr/>
              <a:tblGrid>
                <a:gridCol w="221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参数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作用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常见误解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--packages-select 包名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只编译指定包，跳过无关包，省时间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它不会自动编译依赖，依赖缺了仍然报错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--symlink-install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Python 代码、launch、config 用软链接安装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C++ 代码改完仍然必须重新编译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9D9AA9E-CEDF-4F14-B926-C85D62B2FA95}"/>
              </a:ext>
            </a:extLst>
          </p:cNvPr>
          <p:cNvSpPr>
            <a:spLocks noGrp="1"/>
          </p:cNvSpPr>
          <p:nvPr/>
        </p:nvSpPr>
        <p:spPr>
          <a:xfrm>
            <a:off x="457200" y="278130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只改 Python 或 YAML 时，编译之后不用重新复制文件，改完直接重启节点就生效。改 C++ 一定要重新编译，否则跑的还是旧程序。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FA5528-567E-401D-9CA3-B6BF709782D0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366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 dirty="0" err="1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系统时间：症状与关键词</a:t>
            </a:r>
            <a:endParaRPr sz="2250" b="0" dirty="0">
              <a:solidFill>
                <a:srgbClr val="000000"/>
              </a:solidFill>
              <a:latin typeface="PMingLiU-ExtB"/>
              <a:ea typeface="PMingLiU-ExtB"/>
              <a:cs typeface="PMingLiU-ExtB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1C5801-4A68-43B1-9B40-3ADDD429CC4B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这台车每次开机的默认时间是 2000 年。已经设置了联网自动同步，但开机到同步完成之间有一个窗口，这时候编译就会出错。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04B88A-5514-45A7-BCD5-AFDEE1E25398}"/>
              </a:ext>
            </a:extLst>
          </p:cNvPr>
          <p:cNvSpPr>
            <a:spLocks noGrp="1"/>
          </p:cNvSpPr>
          <p:nvPr/>
        </p:nvSpPr>
        <p:spPr>
          <a:xfrm>
            <a:off x="457200" y="2031683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先看时间，一秒确诊。date 输出 2000 年，后面所有编译问题都不用查了。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357DC53-9688-48D0-AA00-CA5BE7E84987}"/>
              </a:ext>
            </a:extLst>
          </p:cNvPr>
          <p:cNvSpPr>
            <a:spLocks noGrp="1"/>
          </p:cNvSpPr>
          <p:nvPr/>
        </p:nvSpPr>
        <p:spPr>
          <a:xfrm>
            <a:off x="457200" y="2456974"/>
            <a:ext cx="7467600" cy="1133475"/>
          </a:xfrm>
          <a:prstGeom prst="roundRect">
            <a:avLst>
              <a:gd name="adj" fmla="val 2521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make: warning: Clock skew detected. Your build may be incomplete.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make: Warning: File 'xxx.o' has modification time 8.2e+08 s in the future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E: Release file for http://... is not valid yet (invalid for another 9d 3h)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Certificate verification failed: The certificate is NOT yet valid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certificate is not yet valid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934C55-C9A9-411D-B44B-03EF8F33D961}"/>
              </a:ext>
            </a:extLst>
          </p:cNvPr>
          <p:cNvSpPr>
            <a:spLocks noGrp="1"/>
          </p:cNvSpPr>
          <p:nvPr/>
        </p:nvSpPr>
        <p:spPr>
          <a:xfrm>
            <a:off x="457200" y="3742849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后两条来自 apt、rosdep 或 pip 联网。证书有生效时间，系统时钟比证书生效时间还早，就会报证书尚未生效。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D3ED50-7E44-4BE4-85FE-CFAC409AB14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366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系统时间错：修复步骤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3498BE7-A101-4F0D-AFD8-502C9623ED3D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1013460"/>
          </a:xfrm>
          <a:prstGeom prst="roundRect">
            <a:avLst>
              <a:gd name="adj" fmla="val 2820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date                        # 先看时间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sudo timedatectl set-ntp true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sudo timedatectl status      # System clock synchronized: yes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date                        # 确认年份已经是今年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123068-F0C6-4080-9346-6CD0C1D24CAE}"/>
              </a:ext>
            </a:extLst>
          </p:cNvPr>
          <p:cNvSpPr>
            <a:spLocks noGrp="1"/>
          </p:cNvSpPr>
          <p:nvPr/>
        </p:nvSpPr>
        <p:spPr>
          <a:xfrm>
            <a:off x="457200" y="2537460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没有网络时，先手工设一个接近当前的时间，再继续编译。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882461A-2867-4BC7-BE6E-17B1A9789753}"/>
              </a:ext>
            </a:extLst>
          </p:cNvPr>
          <p:cNvSpPr>
            <a:spLocks noGrp="1"/>
          </p:cNvSpPr>
          <p:nvPr/>
        </p:nvSpPr>
        <p:spPr>
          <a:xfrm>
            <a:off x="457200" y="2962751"/>
            <a:ext cx="7467600" cy="453390"/>
          </a:xfrm>
          <a:prstGeom prst="roundRect">
            <a:avLst>
              <a:gd name="adj" fmla="val 6303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sudo date -s "2026-10-13 19:30:00"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F3B45B-92A0-4D1D-87C7-8E3B82B9C1C7}"/>
              </a:ext>
            </a:extLst>
          </p:cNvPr>
          <p:cNvSpPr>
            <a:spLocks noGrp="1"/>
          </p:cNvSpPr>
          <p:nvPr/>
        </p:nvSpPr>
        <p:spPr>
          <a:xfrm>
            <a:off x="457200" y="3568541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已经用错时间编译出来的产物，直接删掉重来更干净。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0D1289-30BF-4093-8AA4-4D7AB5C026BD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编译错位置：成因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302988-CD24-46CA-9013-B14D995BB852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如果在 src/ 里面或者某个包目录里执行了 colcon build，产物就落在那里，变成 src/build、src/install、src/log。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747543-910C-4E15-BE95-AD3F59B215EF}"/>
              </a:ext>
            </a:extLst>
          </p:cNvPr>
          <p:cNvSpPr>
            <a:spLocks noGrp="1"/>
          </p:cNvSpPr>
          <p:nvPr/>
        </p:nvSpPr>
        <p:spPr>
          <a:xfrm>
            <a:off x="457200" y="2031683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麻烦在于 install/ 里面有 share/&lt;包名&gt;/package.xml。colcon 下次扫描时会把这份安装结果也当成一个包，于是同一个包名出现两次。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DABA22C-ECB9-4997-84BE-9AB84ADE7748}"/>
              </a:ext>
            </a:extLst>
          </p:cNvPr>
          <p:cNvSpPr>
            <a:spLocks noGrp="1"/>
          </p:cNvSpPr>
          <p:nvPr/>
        </p:nvSpPr>
        <p:spPr>
          <a:xfrm>
            <a:off x="457200" y="2691765"/>
            <a:ext cx="7467600" cy="786765"/>
          </a:xfrm>
          <a:prstGeom prst="roundRect">
            <a:avLst>
              <a:gd name="adj" fmla="val 3632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Duplicate package names not supported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CMake Error: The current CMakeCache.txt directory /a/build/x is different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  than the directory /b/build/x where CMakeCache.txt was created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4D4DE2-6277-4B84-9E6D-556669841F03}"/>
              </a:ext>
            </a:extLst>
          </p:cNvPr>
          <p:cNvSpPr>
            <a:spLocks noGrp="1"/>
          </p:cNvSpPr>
          <p:nvPr/>
        </p:nvSpPr>
        <p:spPr>
          <a:xfrm>
            <a:off x="457200" y="3630930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第二条来自同一份源码被两个不同路径编译过，通常是复制工作空间或复制 build/ 造成的。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0CA970-4A65-42E1-8F62-76F1769EDE9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366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编译错位置：产物清理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9131ED-0A92-4E4A-BE49-2BF66C3D6F98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删之前确认自己在工作空间根，要删的对象只有 build、install、log。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D374EA2-E647-4777-A188-E2BF95FB7B99}"/>
              </a:ext>
            </a:extLst>
          </p:cNvPr>
          <p:cNvSpPr>
            <a:spLocks noGrp="1"/>
          </p:cNvSpPr>
          <p:nvPr/>
        </p:nvSpPr>
        <p:spPr>
          <a:xfrm>
            <a:off x="457200" y="1796891"/>
            <a:ext cx="7467600" cy="1653540"/>
          </a:xfrm>
          <a:prstGeom prst="roundRect">
            <a:avLst>
              <a:gd name="adj" fmla="val 1728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cd /userdata/dev_ws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pwd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find src -maxdepth 3 -type d \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  \( -name build -o -name install -o -name log \)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rm -rf src/build src/install src/log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rm -rf build install log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colcon build --symlink-install --packages-select &lt;包名&gt;</a:t>
            </a:r>
          </a:p>
          <a:p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source install/setup.bash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B9D413-F27B-4172-961F-0AEB090D00CD}"/>
              </a:ext>
            </a:extLst>
          </p:cNvPr>
          <p:cNvSpPr>
            <a:spLocks noGrp="1"/>
          </p:cNvSpPr>
          <p:nvPr/>
        </p:nvSpPr>
        <p:spPr>
          <a:xfrm>
            <a:off x="457200" y="3602831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src/ 里的代码一行都不会被删。删完必须重新 source install/setup.bash，否则终端里的环境还指向已经被删掉的旧路径。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D97DF4-0FE3-4437-8171-4086E20FD1CA}"/>
              </a:ext>
            </a:extLst>
          </p:cNvPr>
          <p:cNvSpPr>
            <a:spLocks noGrp="1"/>
          </p:cNvSpPr>
          <p:nvPr/>
        </p:nvSpPr>
        <p:spPr>
          <a:xfrm>
            <a:off x="457200" y="4262914"/>
            <a:ext cx="7467600" cy="424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某个目录暂时不能删时，可以在里面放一个空的 COLCON_IGNORE 文件，colcon 扫描时会跳过它。这只是临时绕开，事后仍然应该把产物删掉。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E6121E-7FB8-4D2C-BA83-E128DBAD448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3228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19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忘记 source install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3382FD-3884-458B-A80B-BA13730ACDAD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640080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$ ros2 launch demo1_visual_control demo1.launch.py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Package 'demo1_visual_control' not found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5844E3-CE8C-443B-A265-1D347A2939F2}"/>
              </a:ext>
            </a:extLst>
          </p:cNvPr>
          <p:cNvSpPr>
            <a:spLocks noGrp="1"/>
          </p:cNvSpPr>
          <p:nvPr/>
        </p:nvSpPr>
        <p:spPr>
          <a:xfrm>
            <a:off x="457200" y="2164080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包已经编译好了，只是当前终端不知道它在哪。处理方式如下。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3A7E492-E6BD-4FDF-9D2D-B35E0BDC5133}"/>
              </a:ext>
            </a:extLst>
          </p:cNvPr>
          <p:cNvSpPr>
            <a:spLocks noGrp="1"/>
          </p:cNvSpPr>
          <p:nvPr/>
        </p:nvSpPr>
        <p:spPr>
          <a:xfrm>
            <a:off x="457200" y="2589371"/>
            <a:ext cx="7467600" cy="640080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source /userdata/dev_ws/install/setup.bash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ros2 pkg list | grep demo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9CFDFB-EA28-4ED0-93B3-E2D21E13DC29}"/>
              </a:ext>
            </a:extLst>
          </p:cNvPr>
          <p:cNvSpPr>
            <a:spLocks noGrp="1"/>
          </p:cNvSpPr>
          <p:nvPr/>
        </p:nvSpPr>
        <p:spPr>
          <a:xfrm>
            <a:off x="457200" y="3381851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辅助检查：echo $AMENT_PREFIX_PATH 会列出当前终端能看到的全部包路径。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ED0AEA-18FB-44CF-AAFC-4692D6A2155F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报错速查表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394F0C5-FA5A-4BBA-A0C6-63E0B59BC633}"/>
              </a:ext>
            </a:extLst>
          </p:cNvPr>
          <p:cNvGraphicFramePr/>
          <p:nvPr/>
        </p:nvGraphicFramePr>
        <p:xfrm>
          <a:off x="457200" y="1371600"/>
          <a:ext cx="7467600" cy="3429000"/>
        </p:xfrm>
        <a:graphic>
          <a:graphicData uri="http://schemas.openxmlformats.org/drawingml/2006/table">
            <a:tbl>
              <a:tblPr/>
              <a:tblGrid>
                <a:gridCol w="26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报错里的关键词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说明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处理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Clock skew detected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系统时间不对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先 date，再 timedatectl set-ntp true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in the future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文件时间戳在未来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同上，然后删产物重编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is not valid yet 或 NOT yet valid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证书尚未生效，时钟太早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同上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Duplicate package names not supported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同一包名被扫描到两次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删掉 src/ 里的 build、install、log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CMakeCache.txt is different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build 目录来自另一个路径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删 build/ 重编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Package 'x' not found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当前终端没 source install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source install/setup.bash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No such file or directory 指头文件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依赖没声明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补 &lt;depend&gt; 和 find_package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undefined reference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没链接库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补 ament_target_dependencies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D779B4-36B1-45AC-A126-5ADE1D0A7957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366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三条路线共用一套硬件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4FBB78B-A0C8-4685-A12B-79ED3F35A9CE}"/>
              </a:ext>
            </a:extLst>
          </p:cNvPr>
          <p:cNvGraphicFramePr/>
          <p:nvPr/>
        </p:nvGraphicFramePr>
        <p:xfrm>
          <a:off x="457200" y="1371600"/>
          <a:ext cx="7467600" cy="1295400"/>
        </p:xfrm>
        <a:graphic>
          <a:graphicData uri="http://schemas.openxmlformats.org/drawingml/2006/table">
            <a:tbl>
              <a:tblPr/>
              <a:tblGrid>
                <a:gridCol w="218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输入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中间环节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结果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底盘轮速与 IMU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EKF 融合，发布 odom 到 base_footprint 的 TF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/odom、/odom_combined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N10 雷达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lslidar_driver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/scan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USB 相机与推理节点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YOLO 检测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/win_detection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57611BBC-B94D-478D-B977-A29C380D465F}"/>
              </a:ext>
            </a:extLst>
          </p:cNvPr>
          <p:cNvSpPr>
            <a:spLocks noGrp="1"/>
          </p:cNvSpPr>
          <p:nvPr/>
        </p:nvSpPr>
        <p:spPr>
          <a:xfrm>
            <a:off x="457200" y="281940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三条路线最后都写 /cmd_vel，由底盘驱动转成 STM32 串口帧。它们的区别只有三点：位置从哪里来，障碍从哪里来，谁发控制量。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A7A3F6-9E03-4D8E-A9E8-04977A478434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三条路线对比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3DE83E-08DA-45DC-9809-4644F48EC12B}"/>
              </a:ext>
            </a:extLst>
          </p:cNvPr>
          <p:cNvGraphicFramePr/>
          <p:nvPr/>
        </p:nvGraphicFramePr>
        <p:xfrm>
          <a:off x="457200" y="1371600"/>
          <a:ext cx="7467600" cy="2286000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路线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位置来源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障碍来源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谁发控制量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车端对应实现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demo1 视觉巡线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图像里检测框的横坐标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YOLO 检测框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视觉控制器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origincar_control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demo2 Nav2 加 TEB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录制路径、TF 与定位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雷达局部代价地图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TEB 控制器插件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my_robot_nav 加 dzsavepath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demo3 二维 LIO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自己算的二维位姿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雷达点与车体包络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纯追踪控制器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lio_hybird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BE8B577-5821-4B20-896E-918543A09F49}"/>
              </a:ext>
            </a:extLst>
          </p:cNvPr>
          <p:cNvSpPr>
            <a:spLocks noGrp="1"/>
          </p:cNvSpPr>
          <p:nvPr/>
        </p:nvSpPr>
        <p:spPr>
          <a:xfrm>
            <a:off x="457200" y="3810000"/>
            <a:ext cx="7467600" cy="424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教学包分别是 demo1_visual_control、demo2_nav2_teb、demo3_lio。它们从车端实现裁出，接口一致，核心实现留空。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9798E5-9810-4AB1-ACD0-9C50E6770C3F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demo1 数据流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D9382A2-EDFC-4A7E-A75F-E1761D656E19}"/>
              </a:ext>
            </a:extLst>
          </p:cNvPr>
          <p:cNvGraphicFramePr/>
          <p:nvPr/>
        </p:nvGraphicFramePr>
        <p:xfrm>
          <a:off x="457200" y="1371600"/>
          <a:ext cx="7467600" cy="2133600"/>
        </p:xfrm>
        <a:graphic>
          <a:graphicData uri="http://schemas.openxmlformats.org/drawingml/2006/table">
            <a:tbl>
              <a:tblPr/>
              <a:tblGrid>
                <a:gridCol w="17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环节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输入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要做的事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解析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/win_detection 的 targets 与 rois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按 type 分出 line 和 hat，处理空数组、低置信度与越界框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决策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线路框横坐标与障碍物框高度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算横向误差，判断是否需要绕行，锁定绕行方向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输出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误差与状态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限幅后发布 /cmd_vel，丢线时进入保持与搜索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9DCF2C7-CAA4-48EC-A5C4-609CD7B1FC19}"/>
              </a:ext>
            </a:extLst>
          </p:cNvPr>
          <p:cNvSpPr>
            <a:spLocks noGrp="1"/>
          </p:cNvSpPr>
          <p:nvPr/>
        </p:nvSpPr>
        <p:spPr>
          <a:xfrm>
            <a:off x="457200" y="3657600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要写五处：best_detection、make_command、障碍物分支、lost_line_command、reset_pid 的调用点。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1AAAE5-8FDE-4FB6-9E1B-9FE324F0BBA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demo2 数据流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89481CB-85BF-4CDD-88F2-1A16D3973E83}"/>
              </a:ext>
            </a:extLst>
          </p:cNvPr>
          <p:cNvGraphicFramePr/>
          <p:nvPr/>
        </p:nvGraphicFramePr>
        <p:xfrm>
          <a:off x="457200" y="1371600"/>
          <a:ext cx="7467600" cy="2133600"/>
        </p:xfrm>
        <a:graphic>
          <a:graphicData uri="http://schemas.openxmlformats.org/drawingml/2006/table">
            <a:tbl>
              <a:tblPr/>
              <a:tblGrid>
                <a:gridCol w="17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环节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输入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要做的事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路径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录制好的 CSV，坐标系是 map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解析点位，处理行尾逗号与倒车标记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目标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nav_msgs/Path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发给 /follow_path，指定 controller_id 为 TEB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执行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controller_server 与 local_costmap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TEB 跟踪路径，障碍物挡路时局部绕行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AA44B82-7192-4D37-AB4C-96DA280D252C}"/>
              </a:ext>
            </a:extLst>
          </p:cNvPr>
          <p:cNvSpPr>
            <a:spLocks noGrp="1"/>
          </p:cNvSpPr>
          <p:nvPr/>
        </p:nvSpPr>
        <p:spPr>
          <a:xfrm>
            <a:off x="457200" y="3657600"/>
            <a:ext cx="7467600" cy="424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要补三样：真实地图、nav2_full_params.yaml 的全部参数（含 controller_server.TEB 的 80 个参数）、FollowPath 客户端的发送与恢复逻辑。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B08B4E-2E1A-4395-8AB7-C9763BEB8886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demo3 数据流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81EC85C-B067-48B6-831F-B8143A7457C5}"/>
              </a:ext>
            </a:extLst>
          </p:cNvPr>
          <p:cNvGraphicFramePr/>
          <p:nvPr/>
        </p:nvGraphicFramePr>
        <p:xfrm>
          <a:off x="457200" y="1371600"/>
          <a:ext cx="7467600" cy="2667000"/>
        </p:xfrm>
        <a:graphic>
          <a:graphicData uri="http://schemas.openxmlformats.org/drawingml/2006/table">
            <a:tbl>
              <a:tblPr/>
              <a:tblGrid>
                <a:gridCol w="17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环节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输入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要做的事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去畸变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/scan 与 IMU 缓存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按每束的时间戳插值姿态，把点补偿到同一时刻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过滤与外参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雷达量程与实测外参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丢掉越界点和孤立点，把点变换到车体坐标系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配准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预测位姿与子地图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ICP 或 NDT 求修正量，用门限拒绝错误匹配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控制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/demo3_lio/odom 与路径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选前视点，限曲率，近距离障碍停车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50647B8-75C9-4BA0-B86F-BC7E44C52BD9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验收最硬：静止 60 s 位姿不发散，直线 5 m 往返有误差统计，原地转动时墙体不明显旋转，插入坏点后不崩溃。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AC3F33-AA67-47D5-AFBD-10361148D97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三条路线的公共约束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CBF6D2-7BD8-4BBF-8BDA-1FAB1B202387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同一时间只能启动一条路线。三个控制器都会写 /cmd_vel，一起启动就是三个控制器抢一台车。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430C51-1DC7-45BE-B3D8-0C9A03D3E2B9}"/>
              </a:ext>
            </a:extLst>
          </p:cNvPr>
          <p:cNvSpPr>
            <a:spLocks noGrp="1"/>
          </p:cNvSpPr>
          <p:nvPr/>
        </p:nvSpPr>
        <p:spPr>
          <a:xfrm>
            <a:off x="457200" y="1796891"/>
            <a:ext cx="7467600" cy="453390"/>
          </a:xfrm>
          <a:prstGeom prst="roundRect">
            <a:avLst>
              <a:gd name="adj" fmla="val 6303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ros2 topic info /cmd_vel -v     # 正常情况下只有一个发布者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C8EE76D-96D0-4B75-B861-DD922D126250}"/>
              </a:ext>
            </a:extLst>
          </p:cNvPr>
          <p:cNvGraphicFramePr/>
          <p:nvPr/>
        </p:nvGraphicFramePr>
        <p:xfrm>
          <a:off x="457200" y="2402681"/>
          <a:ext cx="7467600" cy="20955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约束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说清楚的问题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踩错的现象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控制权唯一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只有一条路线的节点在发 /cmd_vel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车按另一套逻辑走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TF 归属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odom 到 base_footprint 由 EKF 发布，别人不能重复发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TF 出现两个父节点，Nav2 查询失败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时间源一致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回放带 /clock 的录包时全部节点加 use_sim_time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TF 报 extrapolation，路径与雷达错位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frame 名字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IMU 的 frame 是 gyro_link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tf2 查询报 frame 不存在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5C83F6-C52C-4FF8-91D6-FA72B65F09B5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技术栈对照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D572281-4352-4ECD-949A-289949A6DE53}"/>
              </a:ext>
            </a:extLst>
          </p:cNvPr>
          <p:cNvGraphicFramePr/>
          <p:nvPr/>
        </p:nvGraphicFramePr>
        <p:xfrm>
          <a:off x="457200" y="1371600"/>
          <a:ext cx="7467600" cy="289560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路线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语言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ROS 2 知识点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领域知识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外部依赖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demo1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C++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话题、QoS、参数、定时器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像素到控制量的映射、比例控制与 PID、状态机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相机与 YOLO 推理节点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demo2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Python 与 YAML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action、lifecycle、TF、参数层级、插件加载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代价地图、路径跟踪、优化器调参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Nav2 全套、TEB 插件、真实地图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demo3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C++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话题、QoS、TF、时间戳与时间同步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平面状态估计、去畸变、ICP 与 NDT、观测拒绝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雷达、IMU、轮速里程计、Eigen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FB35DA6-234D-446F-A40F-7FCBE8FC4BD3}"/>
              </a:ext>
            </a:extLst>
          </p:cNvPr>
          <p:cNvSpPr>
            <a:spLocks noGrp="1"/>
          </p:cNvSpPr>
          <p:nvPr/>
        </p:nvSpPr>
        <p:spPr>
          <a:xfrm>
            <a:off x="457200" y="4419600"/>
            <a:ext cx="7467600" cy="424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共同基础是同一套：Linux 命令行、ROS 2 的节点与话题、TF 树的父子关系、rosbag 的录制与回放。这部分在三条路线上完全复用。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6C3AED-1413-444B-983B-9E7D3CC80374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难度评估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0F835DD-B3F4-4C27-8153-E8DB7A259E76}"/>
              </a:ext>
            </a:extLst>
          </p:cNvPr>
          <p:cNvGraphicFramePr/>
          <p:nvPr/>
        </p:nvGraphicFramePr>
        <p:xfrm>
          <a:off x="457200" y="1371600"/>
          <a:ext cx="7467600" cy="2514600"/>
        </p:xfrm>
        <a:graphic>
          <a:graphicData uri="http://schemas.openxmlformats.org/drawingml/2006/table">
            <a:tbl>
              <a:tblPr/>
              <a:tblGrid>
                <a:gridCol w="136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维度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demo1 视觉巡线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demo2 Nav2 加 TEB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demo3 二维 LIO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自己要写的代码量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约 200 至 350 行 C++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约 100 至 250 行 Python，其余是配置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约 500 至 1000 行 C++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算法深度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低，比例控制加状态机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低，读框架不写算法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高，去畸变、ICP、NDT、协方差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主要难点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符号约定与实车调参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插件版本、TF 归属、参数类型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时间同步与观测拒绝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依赖可控性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高，有录包可以离线练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低，插件、地图、参数都要对齐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中，需要真实传感器数据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验收客观性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中，靠现象观察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中，靠现象观察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高，有硬指标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31B491-4A0B-4BE4-B9C2-D9B59E56E0B6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三条路线各自的难点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C49D5B-D7E0-4C4C-987B-E07BCCFD2B84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demo1 的算法最浅，物理侧要求最高。符号错了车会越跑越偏，参数不对会在弯道上来回震荡，两个问题都只能在真实数据上试出来。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226732-D1A6-4033-9E57-F7E9C79D6D6C}"/>
              </a:ext>
            </a:extLst>
          </p:cNvPr>
          <p:cNvSpPr>
            <a:spLocks noGrp="1"/>
          </p:cNvSpPr>
          <p:nvPr/>
        </p:nvSpPr>
        <p:spPr>
          <a:xfrm>
            <a:off x="457200" y="2031683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demo2 自己写的代码最少，集成量最大。地图、参数、插件版本、TF 的每条边、代价地图的输出，任何一处不对都起不来，而报错信息通常不指向真正的原因。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802749-22CD-455C-BA24-63EAE257B731}"/>
              </a:ext>
            </a:extLst>
          </p:cNvPr>
          <p:cNvSpPr>
            <a:spLocks noGrp="1"/>
          </p:cNvSpPr>
          <p:nvPr/>
        </p:nvSpPr>
        <p:spPr>
          <a:xfrm>
            <a:off x="457200" y="2691765"/>
            <a:ext cx="7467600" cy="507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demo3 算法最重，也最接近科研。时间对齐、运动补偿、外参、配准与拒绝，每一环都能单独让结果发散。它的好处是验收有硬指标，做没做对可以离线复现。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3F92C-E6DA-4326-80FE-9E635BA0578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评估依据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EC1C969-490E-41A3-BBA4-3C57BC2431C7}"/>
              </a:ext>
            </a:extLst>
          </p:cNvPr>
          <p:cNvGraphicFramePr/>
          <p:nvPr/>
        </p:nvGraphicFramePr>
        <p:xfrm>
          <a:off x="457200" y="1371600"/>
          <a:ext cx="7467600" cy="2133600"/>
        </p:xfrm>
        <a:graphic>
          <a:graphicData uri="http://schemas.openxmlformats.org/drawingml/2006/table">
            <a:tbl>
              <a:tblPr/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/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车端实现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教学骨架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差额在哪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demo1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origincar_control 966 行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约 150 行外壳加占位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四类目标解析、绕行方向推断、回线特判、二维码接管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demo2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参数文件 412 行，加 dzfollowpath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路径发布约 120 行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地图、参数取值、行为树、FollowPath 完整逻辑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demo3</a:t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LIO 节点 64 KB，纯追踪节点 208 KB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两个节点合计约 10 KB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262626"/>
                          </a:solidFill>
                          <a:latin typeface="等线"/>
                          <a:ea typeface="等线"/>
                          <a:cs typeface="等线"/>
                        </a:rPr>
                        <a:t>去畸变、ICP、NDT、观测拒绝、协方差、keepout</a:t>
                      </a:r>
                    </a:p>
                  </a:txBody>
                  <a:tcPr marL="76200" marR="76200" marT="57150" marB="57150">
                    <a:lnL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A2BFAFA-39A1-47B5-A350-8783C572AC55}"/>
              </a:ext>
            </a:extLst>
          </p:cNvPr>
          <p:cNvSpPr>
            <a:spLocks noGrp="1"/>
          </p:cNvSpPr>
          <p:nvPr/>
        </p:nvSpPr>
        <p:spPr>
          <a:xfrm>
            <a:off x="457200" y="3657600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这是根据代码体量和接口宽度做的估计，不是性能实测。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9465A8-7123-4896-9FA9-C4A94357984F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7467600" cy="410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rPr>
              <a:t>开工前自查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A077D71-9DDF-4713-AFEB-C29257B6D5E2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7467600" cy="1013460"/>
          </a:xfrm>
          <a:prstGeom prst="roundRect">
            <a:avLst>
              <a:gd name="adj" fmla="val 2820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date                                       # 1 时间对不对，先看这一条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source /opt/tros/humble/setup.bash         # 2 系统环境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source /userdata/dev_ws/install/setup.bash # 3 工作空间环境，路径按实际改</a:t>
            </a:r>
          </a:p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ros2 pkg list | grep demo                  # 4 三个包在不在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096F0A-0016-4364-A1E7-42EAF64DD2F9}"/>
              </a:ext>
            </a:extLst>
          </p:cNvPr>
          <p:cNvSpPr>
            <a:spLocks noGrp="1"/>
          </p:cNvSpPr>
          <p:nvPr/>
        </p:nvSpPr>
        <p:spPr>
          <a:xfrm>
            <a:off x="457200" y="2537460"/>
            <a:ext cx="7467600" cy="272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等线"/>
                <a:ea typeface="等线"/>
                <a:cs typeface="等线"/>
              </a:rPr>
              <a:t>上车前再加一条。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8904B1-252A-40DF-81D4-930D828BC1B7}"/>
              </a:ext>
            </a:extLst>
          </p:cNvPr>
          <p:cNvSpPr>
            <a:spLocks noGrp="1"/>
          </p:cNvSpPr>
          <p:nvPr/>
        </p:nvSpPr>
        <p:spPr>
          <a:xfrm>
            <a:off x="457200" y="2962751"/>
            <a:ext cx="7467600" cy="453390"/>
          </a:xfrm>
          <a:prstGeom prst="roundRect">
            <a:avLst>
              <a:gd name="adj" fmla="val 6303"/>
            </a:avLst>
          </a:prstGeom>
          <a:solidFill>
            <a:srgbClr val="F2F2F2"/>
          </a:solidFill>
          <a:ln w="7144">
            <a:solidFill>
              <a:srgbClr val="D9D9D9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>
            <a:defPPr algn="l"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等线"/>
                <a:ea typeface="等线"/>
                <a:cs typeface="等线"/>
              </a:rPr>
              <a:t>ros2 topic info /cmd_vel -v                # 发布者只能有一个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714FFC-1243-41D7-AF04-C8092BFD5B07}"/>
              </a:ext>
            </a:extLst>
          </p:cNvPr>
          <p:cNvSpPr>
            <a:spLocks noGrp="1"/>
          </p:cNvSpPr>
          <p:nvPr/>
        </p:nvSpPr>
        <p:spPr>
          <a:xfrm>
            <a:off x="457200" y="3568541"/>
            <a:ext cx="7467600" cy="2314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等线"/>
                <a:ea typeface="等线"/>
                <a:cs typeface="等线"/>
              </a:rPr>
              <a:t>前三条能挡掉这节课里绝大多数编译不过的情况。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noGrp="1"/>
          </p:cNvSpPr>
          <p:nvPr/>
        </p:nvSpPr>
        <p:spPr>
          <a:xfrm>
            <a:off x="9750992" y="397542"/>
            <a:ext cx="2400657" cy="4480560"/>
          </a:xfrm>
          <a:prstGeom prst="rect">
            <a:avLst/>
          </a:prstGeom>
          <a:noFill/>
        </p:spPr>
        <p:txBody>
          <a:bodyPr vert="eaVert" wrap="square" anchor="ctr">
            <a:spAutoFit/>
          </a:bodyPr>
          <a:lstStyle>
            <a:defPPr algn="ctr">
              <a:defRPr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ctr"/>
            <a:r>
              <a:rPr sz="7200" b="1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工作空间与编译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noGrp="1"/>
          </p:cNvSpPr>
          <p:nvPr/>
        </p:nvSpPr>
        <p:spPr>
          <a:xfrm>
            <a:off x="8259102" y="432002"/>
            <a:ext cx="2976880" cy="762000"/>
          </a:xfrm>
          <a:prstGeom prst="rect">
            <a:avLst/>
          </a:prstGeom>
          <a:noFill/>
        </p:spPr>
        <p:txBody>
          <a:bodyPr vert="eaVert" wrap="none" anchor="ctr">
            <a:spAutoFit/>
          </a:bodyPr>
          <a:lstStyle>
            <a:defPPr algn="ctr">
              <a:defRPr>
                <a:solidFill>
                  <a:srgbClr val="F2F2F2"/>
                </a:solidFill>
                <a:latin typeface="等线"/>
                <a:ea typeface="等线"/>
                <a:cs typeface="等线"/>
              </a:defRPr>
            </a:defPPr>
          </a:lstStyle>
          <a:p>
            <a:pPr algn="ctr"/>
            <a:r>
              <a:rPr sz="4400">
                <a:solidFill>
                  <a:srgbClr val="F2F2F2"/>
                </a:solidFill>
                <a:latin typeface="等线"/>
                <a:ea typeface="等线"/>
                <a:cs typeface="等线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0D5531-ECF6-B3A6-A48E-B85F9AC5FD40}"/>
              </a:ext>
            </a:extLst>
          </p:cNvPr>
          <p:cNvSpPr>
            <a:spLocks noGrp="1"/>
          </p:cNvSpPr>
          <p:nvPr/>
        </p:nvSpPr>
        <p:spPr>
          <a:xfrm>
            <a:off x="538480" y="681870"/>
            <a:ext cx="1211580" cy="7086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 algn="l">
              <a:defRPr sz="4050"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defPPr>
          </a:lstStyle>
          <a:p>
            <a:pPr algn="l">
              <a:defRPr sz="4050"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pPr>
            <a:r>
              <a:rPr sz="4050">
                <a:solidFill>
                  <a:srgbClr val="FBE3D6"/>
                </a:solidFill>
                <a:latin typeface="PMingLiU-ExtB"/>
                <a:ea typeface="PMingLiU-ExtB"/>
                <a:cs typeface="PMingLiU-ExtB"/>
              </a:rPr>
              <a:t>谢谢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C42ADE-1688-8A35-30FB-8BFAB58B4C98}"/>
              </a:ext>
            </a:extLst>
          </p:cNvPr>
          <p:cNvSpPr>
            <a:spLocks noGrp="1"/>
          </p:cNvSpPr>
          <p:nvPr/>
        </p:nvSpPr>
        <p:spPr>
          <a:xfrm>
            <a:off x="40351" y="5242173"/>
            <a:ext cx="2633384" cy="603504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>
            <a:defPPr algn="r"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defPPr>
          </a:lstStyle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D9D9D9"/>
                </a:solidFill>
                <a:latin typeface="等线"/>
                <a:ea typeface="等线"/>
                <a:cs typeface="等线"/>
              </a:rPr>
              <a:t>同济大学电子与信息工程学院</a:t>
            </a:r>
            <a:endParaRPr>
              <a:solidFill>
                <a:schemeClr val="bg1">
                  <a:lumMod val="85000"/>
                </a:schemeClr>
              </a:solidFill>
            </a:endParaRPr>
          </a:p>
          <a:p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D9D9D9"/>
                </a:solidFill>
                <a:latin typeface="等线"/>
                <a:ea typeface="等线"/>
                <a:cs typeface="等线"/>
              </a:rPr>
              <a:t>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1950473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2026</Words>
  <Application>Microsoft Office PowerPoint</Application>
  <DocSecurity>0</DocSecurity>
  <PresentationFormat>宽屏</PresentationFormat>
  <Paragraphs>416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Microsoft YaHei Light</vt:lpstr>
      <vt:lpstr>PMingLiU-ExtB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Alvin Sun</cp:lastModifiedBy>
  <cp:revision>1</cp:revision>
  <dcterms:created xsi:type="dcterms:W3CDTF">2026-10-13T09:34:39Z</dcterms:created>
  <dcterms:modified xsi:type="dcterms:W3CDTF">2026-10-13T09:45:38Z</dcterms:modified>
</cp:coreProperties>
</file>